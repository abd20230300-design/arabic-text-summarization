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2E5FA3">
              <a:alpha val="30000"/>
            </a:srgbClr>
          </a:solidFill>
          <a:ln w="12700">
            <a:solidFill>
              <a:srgbClr val="2E5FA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-365760"/>
            <a:ext cx="1371600" cy="1371600"/>
          </a:xfrm>
          <a:prstGeom prst="ellipse">
            <a:avLst/>
          </a:prstGeom>
          <a:solidFill>
            <a:srgbClr val="4A7FC1">
              <a:alpha val="40000"/>
            </a:srgbClr>
          </a:solidFill>
          <a:ln w="12700">
            <a:solidFill>
              <a:srgbClr val="4A7FC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NLP Final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Abstractive Arabic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Text Summarization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4F7"/>
                </a:solidFill>
              </a:rPr>
              <a:t>Using Sequence-to-Sequence Models with Bahdanau Attention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82296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747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6E4F7"/>
                </a:solidFill>
              </a:rPr>
              <a:t>Abdelrahman Albakri  ·  20230042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6E4F7"/>
                </a:solidFill>
              </a:rPr>
              <a:t>Ahmad Swaidan  ·  20230558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6E4F7"/>
                </a:solidFill>
              </a:rPr>
              <a:t>Abdallah Hajjat  ·  20230300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206240" cy="713232"/>
          </a:xfrm>
          <a:prstGeom prst="rect">
            <a:avLst/>
          </a:prstGeom>
          <a:solidFill>
            <a:srgbClr val="D6E4F7"/>
          </a:solidFill>
          <a:ln w="635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1556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78408" y="11704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517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Goals, motivation, and scope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984248"/>
            <a:ext cx="4206240" cy="713232"/>
          </a:xfrm>
          <a:prstGeom prst="rect">
            <a:avLst/>
          </a:prstGeom>
          <a:solidFill>
            <a:srgbClr val="F4F8FD"/>
          </a:solidFill>
          <a:ln w="635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98424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8408" y="20391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Datasets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78408" y="23865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Four Arabic summarization corpora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52928"/>
            <a:ext cx="4206240" cy="713232"/>
          </a:xfrm>
          <a:prstGeom prst="rect">
            <a:avLst/>
          </a:prstGeom>
          <a:solidFill>
            <a:srgbClr val="D6E4F7"/>
          </a:solidFill>
          <a:ln w="635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85292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8408" y="29077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8408" y="32552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Cleaning, normalization, tokenization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721608"/>
            <a:ext cx="4206240" cy="713232"/>
          </a:xfrm>
          <a:prstGeom prst="rect">
            <a:avLst/>
          </a:prstGeom>
          <a:solidFill>
            <a:srgbClr val="F4F8FD"/>
          </a:solidFill>
          <a:ln w="635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72160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8408" y="37764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Model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41239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BiLSTM encoder, attention, decoder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115568"/>
            <a:ext cx="4206240" cy="713232"/>
          </a:xfrm>
          <a:prstGeom prst="rect">
            <a:avLst/>
          </a:prstGeom>
          <a:solidFill>
            <a:srgbClr val="D6E4F7"/>
          </a:solidFill>
          <a:ln w="635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11556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58968" y="11704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Training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58968" y="1517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Setup, callbacks, and loss function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984248"/>
            <a:ext cx="4206240" cy="713232"/>
          </a:xfrm>
          <a:prstGeom prst="rect">
            <a:avLst/>
          </a:prstGeom>
          <a:solidFill>
            <a:srgbClr val="F4F8FD"/>
          </a:solidFill>
          <a:ln w="635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198424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58968" y="20391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Results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58968" y="23865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ROUGE scores and qualitative analysis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852928"/>
            <a:ext cx="4206240" cy="713232"/>
          </a:xfrm>
          <a:prstGeom prst="rect">
            <a:avLst/>
          </a:prstGeom>
          <a:solidFill>
            <a:srgbClr val="D6E4F7"/>
          </a:solidFill>
          <a:ln w="635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285292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58968" y="29077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58968" y="32552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Takeaways and future work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794760"/>
          </a:xfrm>
          <a:prstGeom prst="rect">
            <a:avLst/>
          </a:prstGeom>
          <a:solidFill>
            <a:srgbClr val="D6E4F7"/>
          </a:solidFill>
          <a:ln w="6350">
            <a:solidFill>
              <a:srgbClr val="B8D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37490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6642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Arabic digital content is growing exponentially, but manual summarization does not scale.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41401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Extractive methods select sentences verbatim - they miss paraphrase and synthesis.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316382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Abstractive models generate new text capturing the core meaning.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9136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•  </a:t>
            </a:r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LSTM Seq2Seq with attention is a proven baseline for low-resource abstractive tasks.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4023360" cy="37947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Facts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1554480"/>
            <a:ext cx="37490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68,998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Training samples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30,000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93776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Vocabulary size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337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93776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Datasets combined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937760" y="4572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Training epochs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965960" cy="3200400"/>
          </a:xfrm>
          <a:prstGeom prst="rect">
            <a:avLst/>
          </a:prstGeom>
          <a:solidFill>
            <a:srgbClr val="2E5FA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143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AraSum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16916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8745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~49,604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pairs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</a:rPr>
              <a:t>MSA News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1051560"/>
            <a:ext cx="1965960" cy="3200400"/>
          </a:xfrm>
          <a:prstGeom prst="rect">
            <a:avLst/>
          </a:prstGeom>
          <a:solidFill>
            <a:srgbClr val="4A7FC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143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Kaggle Arabic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1737360"/>
            <a:ext cx="16916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18745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~Variable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pairs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2316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</a:rPr>
              <a:t>MSA News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1965960" cy="32004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143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Egyptian Arabic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16916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8745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~Variable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pairs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772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</a:rPr>
              <a:t>Dialect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051560"/>
            <a:ext cx="196596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1430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SumArabic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0" y="1737360"/>
            <a:ext cx="16916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8745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~84,000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pairs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1228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</a:rPr>
              <a:t>MSA News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4389120"/>
            <a:ext cx="8549640" cy="5943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44074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Combined Total: 68,998 samples after deduplication and cleaning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60020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97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Clean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463040"/>
            <a:ext cx="164592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2194560"/>
            <a:ext cx="1600200" cy="914400"/>
          </a:xfrm>
          <a:prstGeom prst="rect">
            <a:avLst/>
          </a:prstGeom>
          <a:solidFill>
            <a:srgbClr val="D6E4F7"/>
          </a:solidFill>
          <a:ln w="6350">
            <a:solidFill>
              <a:srgbClr val="B8D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212848"/>
            <a:ext cx="1508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Remove URLs, emojis, HTML, digits, non-Arabic chars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93392" y="1051560"/>
            <a:ext cx="160020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097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Normalize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93592" y="1463040"/>
            <a:ext cx="164592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1993392" y="2194560"/>
            <a:ext cx="1600200" cy="914400"/>
          </a:xfrm>
          <a:prstGeom prst="rect">
            <a:avLst/>
          </a:prstGeom>
          <a:solidFill>
            <a:srgbClr val="D6E4F7"/>
          </a:solidFill>
          <a:ln w="6350">
            <a:solidFill>
              <a:srgbClr val="B8D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2212848"/>
            <a:ext cx="1508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Alef variants, Ta Marbuta, diacritics, Tatweel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58184" y="1051560"/>
            <a:ext cx="160020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58184" y="1097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Stop Words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58384" y="1463040"/>
            <a:ext cx="164592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3758184" y="2194560"/>
            <a:ext cx="1600200" cy="914400"/>
          </a:xfrm>
          <a:prstGeom prst="rect">
            <a:avLst/>
          </a:prstGeom>
          <a:solidFill>
            <a:srgbClr val="D6E4F7"/>
          </a:solidFill>
          <a:ln w="6350">
            <a:solidFill>
              <a:srgbClr val="B8D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03904" y="2212848"/>
            <a:ext cx="1508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NLTK Arabic stop word list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22976" y="1051560"/>
            <a:ext cx="160020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22976" y="1097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Tokenize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23176" y="1463040"/>
            <a:ext cx="164592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Shape 20"/>
          <p:cNvSpPr/>
          <p:nvPr/>
        </p:nvSpPr>
        <p:spPr>
          <a:xfrm>
            <a:off x="5522976" y="2194560"/>
            <a:ext cx="1600200" cy="914400"/>
          </a:xfrm>
          <a:prstGeom prst="rect">
            <a:avLst/>
          </a:prstGeom>
          <a:solidFill>
            <a:srgbClr val="D6E4F7"/>
          </a:solidFill>
          <a:ln w="6350">
            <a:solidFill>
              <a:srgbClr val="B8D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68696" y="2212848"/>
            <a:ext cx="1508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Keras tokenizer, VOCAB=30k, shared encoder/decoder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87768" y="1051560"/>
            <a:ext cx="160020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87768" y="1097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Pad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87768" y="2194560"/>
            <a:ext cx="1600200" cy="914400"/>
          </a:xfrm>
          <a:prstGeom prst="rect">
            <a:avLst/>
          </a:prstGeom>
          <a:solidFill>
            <a:srgbClr val="D6E4F7"/>
          </a:solidFill>
          <a:ln w="6350">
            <a:solidFill>
              <a:srgbClr val="B8D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3488" y="2212848"/>
            <a:ext cx="1508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Post-padding: article=350, summary=50 tokens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3246120"/>
            <a:ext cx="4160520" cy="1554480"/>
          </a:xfrm>
          <a:prstGeom prst="rect">
            <a:avLst/>
          </a:prstGeom>
          <a:solidFill>
            <a:srgbClr val="F4F8FD"/>
          </a:solidFill>
          <a:ln w="635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33375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Teacher Forcing Setup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373075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FA3"/>
                </a:solidFill>
              </a:rPr>
              <a:t>decoder_input  =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sostoken + summary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2E5FA3"/>
                </a:solidFill>
              </a:rPr>
              <a:t>decoder_target =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summary + eostoken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246120"/>
            <a:ext cx="4160520" cy="1554480"/>
          </a:xfrm>
          <a:prstGeom prst="rect">
            <a:avLst/>
          </a:prstGeom>
          <a:solidFill>
            <a:srgbClr val="F4F8FD"/>
          </a:solidFill>
          <a:ln w="635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33375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Dataset Split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3730752"/>
            <a:ext cx="1143000" cy="7772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92040" y="37490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40965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55,198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730752"/>
            <a:ext cx="1143000" cy="777240"/>
          </a:xfrm>
          <a:prstGeom prst="rect">
            <a:avLst/>
          </a:prstGeom>
          <a:solidFill>
            <a:srgbClr val="2E5FA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17920" y="37490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40965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6,900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543800" y="3730752"/>
            <a:ext cx="1143000" cy="7772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543800" y="37490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43800" y="40965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6,900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Model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468880" cy="37490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ENCODER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27632"/>
            <a:ext cx="2194560" cy="411480"/>
          </a:xfrm>
          <a:prstGeom prst="rect">
            <a:avLst/>
          </a:prstGeom>
          <a:solidFill>
            <a:srgbClr val="4A7FC1"/>
          </a:solidFill>
          <a:ln w="6350">
            <a:solidFill>
              <a:srgbClr val="D6E4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276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Embedding (128d)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139696"/>
            <a:ext cx="2194560" cy="411480"/>
          </a:xfrm>
          <a:prstGeom prst="rect">
            <a:avLst/>
          </a:prstGeom>
          <a:solidFill>
            <a:srgbClr val="4A7FC1"/>
          </a:solidFill>
          <a:ln w="6350">
            <a:solidFill>
              <a:srgbClr val="D6E4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3969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Bidirectional LSTM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651760"/>
            <a:ext cx="2194560" cy="411480"/>
          </a:xfrm>
          <a:prstGeom prst="rect">
            <a:avLst/>
          </a:prstGeom>
          <a:solidFill>
            <a:srgbClr val="4A7FC1"/>
          </a:solidFill>
          <a:ln w="6350">
            <a:solidFill>
              <a:srgbClr val="D6E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LATENT=128/dir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163824"/>
            <a:ext cx="2194560" cy="411480"/>
          </a:xfrm>
          <a:prstGeom prst="rect">
            <a:avLst/>
          </a:prstGeom>
          <a:solidFill>
            <a:srgbClr val="4A7FC1"/>
          </a:solidFill>
          <a:ln w="6350">
            <a:solidFill>
              <a:srgbClr val="D6E4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638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Dropout 0.2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675888"/>
            <a:ext cx="2194560" cy="411480"/>
          </a:xfrm>
          <a:prstGeom prst="rect">
            <a:avLst/>
          </a:prstGeom>
          <a:solidFill>
            <a:srgbClr val="4A7FC1"/>
          </a:solidFill>
          <a:ln w="6350">
            <a:solidFill>
              <a:srgbClr val="D6E4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758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state_h, state_c (256d)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187952"/>
            <a:ext cx="2194560" cy="411480"/>
          </a:xfrm>
          <a:prstGeom prst="rect">
            <a:avLst/>
          </a:prstGeom>
          <a:solidFill>
            <a:srgbClr val="4A7FC1"/>
          </a:solidFill>
          <a:ln w="6350">
            <a:solidFill>
              <a:srgbClr val="D6E4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1879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encoder_outputs (350, 256)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2788920"/>
            <a:ext cx="4572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2651760" y="29443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context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2331720"/>
            <a:ext cx="2560320" cy="10515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BAHDANAU ATTENTION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Additive attention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Decoder queries Encoder outputs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Context vector per decode step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1051560"/>
            <a:ext cx="2651760" cy="3749040"/>
          </a:xfrm>
          <a:prstGeom prst="rect">
            <a:avLst/>
          </a:prstGeom>
          <a:solidFill>
            <a:srgbClr val="2E5FA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7220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DECODER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1627632"/>
            <a:ext cx="2377440" cy="411480"/>
          </a:xfrm>
          <a:prstGeom prst="rect">
            <a:avLst/>
          </a:prstGeom>
          <a:solidFill>
            <a:srgbClr val="4A7FC1"/>
          </a:solidFill>
          <a:ln w="6350">
            <a:solidFill>
              <a:srgbClr val="D6E4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6276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Embedding (shared, 128d)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2139696"/>
            <a:ext cx="2377440" cy="411480"/>
          </a:xfrm>
          <a:prstGeom prst="rect">
            <a:avLst/>
          </a:prstGeom>
          <a:solidFill>
            <a:srgbClr val="4A7FC1"/>
          </a:solidFill>
          <a:ln w="6350">
            <a:solidFill>
              <a:srgbClr val="D6E4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1396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LSTM (256d)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651760"/>
            <a:ext cx="2377440" cy="411480"/>
          </a:xfrm>
          <a:prstGeom prst="rect">
            <a:avLst/>
          </a:prstGeom>
          <a:solidFill>
            <a:srgbClr val="4A7FC1"/>
          </a:solidFill>
          <a:ln w="6350">
            <a:solidFill>
              <a:srgbClr val="D6E4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Initialized from encoder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163824"/>
            <a:ext cx="2377440" cy="411480"/>
          </a:xfrm>
          <a:prstGeom prst="rect">
            <a:avLst/>
          </a:prstGeom>
          <a:solidFill>
            <a:srgbClr val="4A7FC1"/>
          </a:solidFill>
          <a:ln w="6350">
            <a:solidFill>
              <a:srgbClr val="D6E4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1638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Dropout 0.2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3675888"/>
            <a:ext cx="2377440" cy="411480"/>
          </a:xfrm>
          <a:prstGeom prst="rect">
            <a:avLst/>
          </a:prstGeom>
          <a:solidFill>
            <a:srgbClr val="4A7FC1"/>
          </a:solidFill>
          <a:ln w="6350">
            <a:solidFill>
              <a:srgbClr val="D6E4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675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Concat [decoder, context]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4187952"/>
            <a:ext cx="2377440" cy="411480"/>
          </a:xfrm>
          <a:prstGeom prst="rect">
            <a:avLst/>
          </a:prstGeom>
          <a:solidFill>
            <a:srgbClr val="4A7FC1"/>
          </a:solidFill>
          <a:ln w="6350">
            <a:solidFill>
              <a:srgbClr val="D6E4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1879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Dense softmax (30k)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15000" y="2788920"/>
            <a:ext cx="4572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Training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886200"/>
          </a:xfrm>
          <a:prstGeom prst="rect">
            <a:avLst/>
          </a:prstGeom>
          <a:solidFill>
            <a:srgbClr val="F4F8FD"/>
          </a:solidFill>
          <a:ln w="635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Hyperparameters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3749040" cy="39319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819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Embedding dim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5819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FA3"/>
                </a:solidFill>
              </a:rPr>
              <a:t>128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975104"/>
            <a:ext cx="37490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842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Encoder LSTM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19842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FA3"/>
                </a:solidFill>
              </a:rPr>
              <a:t>128 x 2 dir = 256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377440"/>
            <a:ext cx="3749040" cy="39319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865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Decoder LSTM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3865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FA3"/>
                </a:solidFill>
              </a:rPr>
              <a:t>256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779776"/>
            <a:ext cx="37490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788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Dropout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FA3"/>
                </a:solidFill>
              </a:rPr>
              <a:t>0.2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182112"/>
            <a:ext cx="3749040" cy="39319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912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Optimizer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31912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FA3"/>
                </a:solidFill>
              </a:rPr>
              <a:t>Adam lr=1e-3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584448"/>
            <a:ext cx="37490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5935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Batch size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35935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FA3"/>
                </a:solidFill>
              </a:rPr>
              <a:t>16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986784"/>
            <a:ext cx="3749040" cy="393192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9959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Epochs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51760" y="39959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FA3"/>
                </a:solidFill>
              </a:rPr>
              <a:t>5 (early stop)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389120"/>
            <a:ext cx="37490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3982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Clip norm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51760" y="43982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FA3"/>
                </a:solidFill>
              </a:rPr>
              <a:t>1.0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1051560"/>
            <a:ext cx="4023360" cy="1828800"/>
          </a:xfrm>
          <a:prstGeom prst="rect">
            <a:avLst/>
          </a:prstGeom>
          <a:solidFill>
            <a:srgbClr val="D6E4F7"/>
          </a:solidFill>
          <a:ln w="6350">
            <a:solidFill>
              <a:srgbClr val="B8D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Callbacks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1554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EarlyStopping: patience=2, min_delta=1e-4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19568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ReduceLROnPlateau: factor=0.5, patience=1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2359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Restore best weights on early stop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2999232"/>
            <a:ext cx="4023360" cy="193852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30906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Custom Masked Loss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3493008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Padding tokens (id=0) excluded 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gradient computation. Per-token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sparse cross-entropy masked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binary token mask.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Training Results</a:t>
            </a:r>
            <a:endParaRPr lang="en-US" sz="3000" dirty="0"/>
          </a:p>
        </p:txBody>
      </p:sp>
      <p:pic>
        <p:nvPicPr>
          <p:cNvPr id="4" name="Image 0" descr="/home/claude/results_cha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0"/>
            <a:ext cx="86868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4279392"/>
            <a:ext cx="2011680" cy="6583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01752" y="4297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Train Loss Ep1-&gt;Ep5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01752" y="45537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2.96 -&gt; 2.11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423160" y="4279392"/>
            <a:ext cx="2011680" cy="658368"/>
          </a:xfrm>
          <a:prstGeom prst="rect">
            <a:avLst/>
          </a:prstGeom>
          <a:solidFill>
            <a:srgbClr val="4A7FC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496312" y="4297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Val Loss Ep1-&gt;Ep5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496312" y="45537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3.13 -&gt; 3.09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17720" y="4279392"/>
            <a:ext cx="2011680" cy="658368"/>
          </a:xfrm>
          <a:prstGeom prst="rect">
            <a:avLst/>
          </a:prstGeom>
          <a:solidFill>
            <a:srgbClr val="2E5FA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690872" y="4297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Train Accuracy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90872" y="45537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22.8% -&gt; 33.4%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12280" y="4279392"/>
            <a:ext cx="2011680" cy="658368"/>
          </a:xfrm>
          <a:prstGeom prst="rect">
            <a:avLst/>
          </a:prstGeom>
          <a:solidFill>
            <a:srgbClr val="5555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885432" y="42976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Val Accuracy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85432" y="45537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22.8% -&gt; 25%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Inference: Greedy Decoding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1078992"/>
            <a:ext cx="7863840" cy="658368"/>
          </a:xfrm>
          <a:prstGeom prst="rect">
            <a:avLst/>
          </a:prstGeom>
          <a:solidFill>
            <a:srgbClr val="D6E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11556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Run encoder on padded article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173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Get encoder_outputs + state_h, state_c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0120" y="1847088"/>
            <a:ext cx="7863840" cy="658368"/>
          </a:xfrm>
          <a:prstGeom prst="rect">
            <a:avLst/>
          </a:prstGeom>
          <a:solidFill>
            <a:srgbClr val="F4F8FD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883664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Initialize decoder with sostoken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21854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Pass encoder states as initial LSTM state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15184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61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20" y="2615184"/>
            <a:ext cx="7863840" cy="658368"/>
          </a:xfrm>
          <a:prstGeom prst="rect">
            <a:avLst/>
          </a:prstGeom>
          <a:solidFill>
            <a:srgbClr val="D6E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265176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Predict next token at each step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953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Argmax over top-20 valid candidates (skip OOV, special tokens)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" y="3383280"/>
            <a:ext cx="7863840" cy="658368"/>
          </a:xfrm>
          <a:prstGeom prst="rect">
            <a:avLst/>
          </a:prstGeom>
          <a:solidFill>
            <a:srgbClr val="F4F8FD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341985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Repetition guard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37216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Skip token if word appears more than 3 times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151376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15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0120" y="4151376"/>
            <a:ext cx="7863840" cy="658368"/>
          </a:xfrm>
          <a:prstGeom prst="rect">
            <a:avLst/>
          </a:prstGeom>
          <a:solidFill>
            <a:srgbClr val="D6E4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418795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Stop conditions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448970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eostoken predicted (after step 3), or MAX_SUM_LEN=50 reached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Evaluation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2651760" cy="21031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78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ROUGE-1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0.0828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</a:rPr>
              <a:t>P: 0.091  R: 0.077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0.087 (non-empty)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024128"/>
            <a:ext cx="2651760" cy="21031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078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ROUGE-2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54680" y="14630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0.0135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15468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</a:rPr>
              <a:t>P: 0.015  R: 0.012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5468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0.016 (non-empty)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24128"/>
            <a:ext cx="2651760" cy="21031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078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ROUGE-L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14630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0.0695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3504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7"/>
                </a:solidFill>
              </a:rPr>
              <a:t>P: 0.076  R: 0.064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0.073 (non-empty)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18688"/>
            <a:ext cx="8549640" cy="502920"/>
          </a:xfrm>
          <a:prstGeom prst="rect">
            <a:avLst/>
          </a:prstGeom>
          <a:solidFill>
            <a:srgbClr val="D6E4F7"/>
          </a:solidFill>
          <a:ln w="6350">
            <a:solidFill>
              <a:srgbClr val="B8D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46120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Evaluated on 100 held-out test samples using greedy decoding with a custom Arabic whitespace ROUGE scorer.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794760"/>
            <a:ext cx="8549640" cy="1097280"/>
          </a:xfrm>
          <a:prstGeom prst="rect">
            <a:avLst/>
          </a:prstGeom>
          <a:solidFill>
            <a:srgbClr val="F4F8FD"/>
          </a:solidFill>
          <a:ln w="635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8587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Context: LSTM vs Transformers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206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Our LSTM Seq2Seq (from scratch): 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ROUGE-1 = 0.0828</a:t>
            </a:r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       AraBART / transformer fine-tuned:  </a:t>
            </a:r>
            <a:pPr indent="0" marL="0">
              <a:buNone/>
            </a:pPr>
            <a:r>
              <a:rPr lang="en-US" sz="1100" b="1" dirty="0">
                <a:solidFill>
                  <a:srgbClr val="4A7FC1"/>
                </a:solidFill>
              </a:rPr>
              <a:t>ROUGE-1 = 0.30 - 0.45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Qualitative Examples vs Gold 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8686800" cy="1225296"/>
          </a:xfrm>
          <a:prstGeom prst="rect">
            <a:avLst/>
          </a:prstGeom>
          <a:solidFill>
            <a:srgbClr val="F4F8FD"/>
          </a:solidFill>
          <a:ln w="635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86868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2412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 1 — Low overlap (German mosque controversy)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78040" y="10332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R1: 0.000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818120" y="10332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R2: 0.000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412480" y="10332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RL: 0.000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3350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Ref: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3350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مءتمر مثير للجدل حول الاسلام المانيا عقد مدينه كولونيا...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1627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Gen: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16276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اثار قرار البرلمان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19385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tokens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359152"/>
            <a:ext cx="8686800" cy="1225296"/>
          </a:xfrm>
          <a:prstGeom prst="rect">
            <a:avLst/>
          </a:prstGeom>
          <a:solidFill>
            <a:srgbClr val="F4F8FD"/>
          </a:solidFill>
          <a:ln w="635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359152"/>
            <a:ext cx="86868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3774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 2 — Partial overlap (US diplomacy)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78040" y="23865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R1: ~0.32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818120" y="2386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R2: ~0.09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412480" y="23865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RL: ~0.28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2688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Ref: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26883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بلينكن يؤكد دعم واشنطن حل الدولتين ويدعو الى وقف التصعيد...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29809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Gen: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29809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واشنطن تدعم جهود الدبلوماسيه وقف التصعيد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291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tokens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3712464"/>
            <a:ext cx="8686800" cy="1225296"/>
          </a:xfrm>
          <a:prstGeom prst="rect">
            <a:avLst/>
          </a:prstGeom>
          <a:solidFill>
            <a:srgbClr val="F4F8FD"/>
          </a:solidFill>
          <a:ln w="635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712464"/>
            <a:ext cx="86868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73075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 3 — Higher overlap (Saudi Aramco earnings)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78040" y="3739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R1: ~0.49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18120" y="3739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R2: ~0.18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412480" y="37398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RL: ~0.43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Ref: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" y="40416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ارامكو تحقق ارباحا صافيه قياسيه الربع الثالث مدفوعه بارتفاع اسعار النفط...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43342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Gen: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" y="433425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ارامكو السعوديه تحقق ارباح ارتفاع اسعار النفط الاسواق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4645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tokens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Error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114800" cy="1783080"/>
          </a:xfrm>
          <a:prstGeom prst="rect">
            <a:avLst/>
          </a:prstGeom>
          <a:solidFill>
            <a:srgbClr val="F4F8FD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164592" cy="1783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Short Generations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Model frequently stops after 3-5 tokens. Decoder loses track of source content early, producing incomplete summaries.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78992"/>
            <a:ext cx="4114800" cy="1783080"/>
          </a:xfrm>
          <a:prstGeom prst="rect">
            <a:avLst/>
          </a:prstGeom>
          <a:solidFill>
            <a:srgbClr val="F4F8F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78992"/>
            <a:ext cx="164592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Generic Phrasing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62763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High-frequency words from training dominate output. Reduces specificity and topic coverage.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044952"/>
            <a:ext cx="4114800" cy="1783080"/>
          </a:xfrm>
          <a:prstGeom prst="rect">
            <a:avLst/>
          </a:prstGeom>
          <a:solidFill>
            <a:srgbClr val="F4F8FD"/>
          </a:solidFill>
          <a:ln w="25400">
            <a:solidFill>
              <a:srgbClr val="2E5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44952"/>
            <a:ext cx="164592" cy="178308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54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A3"/>
                </a:solidFill>
              </a:rPr>
              <a:t>Low Bigram Overlap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9359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ROUGE-2 of 0.0135 shows the model rarely reproduces multi-word phrases. Abstractive flexibility is not yet controlled.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044952"/>
            <a:ext cx="4114800" cy="1783080"/>
          </a:xfrm>
          <a:prstGeom prst="rect">
            <a:avLst/>
          </a:prstGeom>
          <a:solidFill>
            <a:srgbClr val="F4F8FD"/>
          </a:solidFill>
          <a:ln w="25400">
            <a:solidFill>
              <a:srgbClr val="4A7F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44952"/>
            <a:ext cx="164592" cy="1783080"/>
          </a:xfrm>
          <a:prstGeom prst="rect">
            <a:avLst/>
          </a:prstGeom>
          <a:solidFill>
            <a:srgbClr val="4A7FC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154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C1"/>
                </a:solidFill>
              </a:rPr>
              <a:t>Attention Dispersion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59359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Plain Bahdanau attention can spread weight too evenly over long documents (350 tokens), missing key sentences.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2E5FA3">
              <a:alpha val="30000"/>
            </a:srgbClr>
          </a:solidFill>
          <a:ln w="12700">
            <a:solidFill>
              <a:srgbClr val="2E5FA3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 &amp; Future 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What we achieved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68,998-sample Arabic corpus from 4 datasets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842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Full Arabic preprocessing pipeline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BiLSTM encoder + Bahdanau attention + LSTM decoder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072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ROUGE-1: 0.0828, ROUGE-2: 0.0135, ROUGE-L: 0.0695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18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Custom masked loss, repetition guard, inference pipeline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AraBART / AraBERT for transfer learning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984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Pre-trained AraVec or FastText embeddings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3957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Beam search decoding instead of greedy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8072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Copy mechanism for named entities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2186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Coverage mechanism to reduce repetition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822960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7024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Thank you | Abdelrahman Albakri  .  Ahmad Swaidan  .  Abdallah Hajjat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Abstractive Arabic Text Summarization</dc:title>
  <dc:subject>PptxGenJS Presentation</dc:subject>
  <dc:creator>NLP Project Team</dc:creator>
  <cp:lastModifiedBy>NLP Project Team</cp:lastModifiedBy>
  <cp:revision>1</cp:revision>
  <dcterms:created xsi:type="dcterms:W3CDTF">2026-05-13T15:53:08Z</dcterms:created>
  <dcterms:modified xsi:type="dcterms:W3CDTF">2026-05-13T15:53:08Z</dcterms:modified>
</cp:coreProperties>
</file>